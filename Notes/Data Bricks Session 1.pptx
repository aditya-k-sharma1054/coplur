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D3A8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5143500"/>
          </a:xfrm>
          <a:prstGeom prst="rect">
            <a:avLst/>
          </a:prstGeom>
          <a:solidFill>
            <a:srgbClr val="00BCD4"/>
          </a:solidFill>
          <a:ln w="12700">
            <a:solidFill>
              <a:srgbClr val="00BCD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384048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400" kern="0" dirty="0">
                <a:solidFill>
                  <a:srgbClr val="9BB5D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TECHNOLOGY OVERVIEW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502920" y="914400"/>
            <a:ext cx="78638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Databricks?</a:t>
            </a:r>
            <a:endParaRPr lang="en-US" sz="4200" dirty="0"/>
          </a:p>
        </p:txBody>
      </p:sp>
      <p:sp>
        <p:nvSpPr>
          <p:cNvPr id="5" name="Text 3"/>
          <p:cNvSpPr/>
          <p:nvPr/>
        </p:nvSpPr>
        <p:spPr>
          <a:xfrm>
            <a:off x="502920" y="2331720"/>
            <a:ext cx="6858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A8C4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unified data intelligence platform reshaping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A8C4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enterprises manage analytics and AI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502920" y="3383280"/>
            <a:ext cx="5943600" cy="27432"/>
          </a:xfrm>
          <a:prstGeom prst="rect">
            <a:avLst/>
          </a:prstGeom>
          <a:solidFill>
            <a:srgbClr val="2A5A8A"/>
          </a:solidFill>
          <a:ln w="12700">
            <a:solidFill>
              <a:srgbClr val="2A5A8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02920" y="452628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spc="200" kern="0" dirty="0">
                <a:solidFill>
                  <a:srgbClr val="5A82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Bridging Talent &amp; Empowering Futures  |  coplur.com</a:t>
            </a:r>
            <a:endParaRPr lang="en-US" sz="850" dirty="0"/>
          </a:p>
        </p:txBody>
      </p:sp>
      <p:sp>
        <p:nvSpPr>
          <p:cNvPr id="8" name="Shape 6"/>
          <p:cNvSpPr/>
          <p:nvPr/>
        </p:nvSpPr>
        <p:spPr>
          <a:xfrm>
            <a:off x="6858000" y="-457200"/>
            <a:ext cx="3200400" cy="3200400"/>
          </a:xfrm>
          <a:prstGeom prst="ellipse">
            <a:avLst/>
          </a:prstGeom>
          <a:solidFill>
            <a:srgbClr val="1A2A7A">
              <a:alpha val="60000"/>
            </a:srgbClr>
          </a:solidFill>
          <a:ln w="12700">
            <a:solidFill>
              <a:srgbClr val="1A2A7A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7498080" y="2286000"/>
            <a:ext cx="2011680" cy="2011680"/>
          </a:xfrm>
          <a:prstGeom prst="ellipse">
            <a:avLst/>
          </a:prstGeom>
          <a:solidFill>
            <a:srgbClr val="00BCD4">
              <a:alpha val="50000"/>
            </a:srgbClr>
          </a:solidFill>
          <a:ln w="12700">
            <a:solidFill>
              <a:srgbClr val="00BCD4"/>
            </a:solidFill>
            <a:prstDash val="solid"/>
          </a:ln>
        </p:spPr>
      </p:sp>
      <p:pic>
        <p:nvPicPr>
          <p:cNvPr id="10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217920" y="201168"/>
            <a:ext cx="2743200" cy="749808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7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2D3A8C"/>
          </a:solidFill>
          <a:ln w="12700">
            <a:solidFill>
              <a:srgbClr val="2D3A8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109728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DATABRICKS?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11480" y="822960"/>
            <a:ext cx="8321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D3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Platform. Data, Analytics &amp; AI.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411480" y="1417320"/>
            <a:ext cx="914400" cy="36576"/>
          </a:xfrm>
          <a:prstGeom prst="rect">
            <a:avLst/>
          </a:prstGeom>
          <a:solidFill>
            <a:srgbClr val="00BCD4"/>
          </a:solidFill>
          <a:ln w="12700">
            <a:solidFill>
              <a:srgbClr val="00BCD4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11480" y="1572768"/>
            <a:ext cx="8321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Databricks is an enterprise data and AI platform built on open-source Apache Spark, designed to unify data engineering, machine learning, and analytics workflows in a single collaborative environment.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274320" y="2423160"/>
            <a:ext cx="2743200" cy="2286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4EAF4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274320" y="2423160"/>
            <a:ext cx="2743200" cy="64008"/>
          </a:xfrm>
          <a:prstGeom prst="rect">
            <a:avLst/>
          </a:prstGeom>
          <a:solidFill>
            <a:srgbClr val="2D3A8C"/>
          </a:solidFill>
          <a:ln w="12700">
            <a:solidFill>
              <a:srgbClr val="2D3A8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38912" y="2560320"/>
            <a:ext cx="241401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2D3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Lakehouse Architecture</a:t>
            </a:r>
            <a:endParaRPr lang="en-US" sz="1150" dirty="0"/>
          </a:p>
        </p:txBody>
      </p:sp>
      <p:sp>
        <p:nvSpPr>
          <p:cNvPr id="10" name="Text 8"/>
          <p:cNvSpPr/>
          <p:nvPr/>
        </p:nvSpPr>
        <p:spPr>
          <a:xfrm>
            <a:off x="438912" y="3035808"/>
            <a:ext cx="2414016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Combines the best of data lakes (raw, scalable storage) and data warehouses (ACID, governance) into one system — eliminating costly data silos.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3246120" y="2423160"/>
            <a:ext cx="2743200" cy="2286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4EAF4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3246120" y="2423160"/>
            <a:ext cx="2743200" cy="64008"/>
          </a:xfrm>
          <a:prstGeom prst="rect">
            <a:avLst/>
          </a:prstGeom>
          <a:solidFill>
            <a:srgbClr val="2D3A8C"/>
          </a:solidFill>
          <a:ln w="12700">
            <a:solidFill>
              <a:srgbClr val="2D3A8C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410712" y="2560320"/>
            <a:ext cx="241401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2D3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Unified Collaboration</a:t>
            </a:r>
            <a:endParaRPr lang="en-US" sz="1150" dirty="0"/>
          </a:p>
        </p:txBody>
      </p:sp>
      <p:sp>
        <p:nvSpPr>
          <p:cNvPr id="14" name="Text 12"/>
          <p:cNvSpPr/>
          <p:nvPr/>
        </p:nvSpPr>
        <p:spPr>
          <a:xfrm>
            <a:off x="3410712" y="3035808"/>
            <a:ext cx="2414016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engineers, data scientists, and analysts share one workspace with notebooks, pipelines, dashboards, and ML experiments.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6217920" y="2423160"/>
            <a:ext cx="2743200" cy="2286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4EAF4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6217920" y="2423160"/>
            <a:ext cx="2743200" cy="64008"/>
          </a:xfrm>
          <a:prstGeom prst="rect">
            <a:avLst/>
          </a:prstGeom>
          <a:solidFill>
            <a:srgbClr val="2D3A8C"/>
          </a:solidFill>
          <a:ln w="12700">
            <a:solidFill>
              <a:srgbClr val="2D3A8C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382512" y="2560320"/>
            <a:ext cx="241401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2D3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Multi-Cloud Native</a:t>
            </a:r>
            <a:endParaRPr lang="en-US" sz="1150" dirty="0"/>
          </a:p>
        </p:txBody>
      </p:sp>
      <p:sp>
        <p:nvSpPr>
          <p:cNvPr id="18" name="Text 16"/>
          <p:cNvSpPr/>
          <p:nvPr/>
        </p:nvSpPr>
        <p:spPr>
          <a:xfrm>
            <a:off x="6382512" y="3035808"/>
            <a:ext cx="2414016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Runs natively on AWS, Azure, and Google Cloud, giving enterprises vendor flexibility without sacrificing governance or performance.</a:t>
            </a:r>
            <a:endParaRPr lang="en-US" sz="1050" dirty="0"/>
          </a:p>
        </p:txBody>
      </p:sp>
      <p:pic>
        <p:nvPicPr>
          <p:cNvPr id="1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406640" y="4681728"/>
            <a:ext cx="1508760" cy="411480"/>
          </a:xfrm>
          <a:prstGeom prst="rect">
            <a:avLst/>
          </a:prstGeom>
        </p:spPr>
      </p:pic>
      <p:sp>
        <p:nvSpPr>
          <p:cNvPr id="20" name="Text 17"/>
          <p:cNvSpPr/>
          <p:nvPr/>
        </p:nvSpPr>
        <p:spPr>
          <a:xfrm>
            <a:off x="8686800" y="4846320"/>
            <a:ext cx="320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B0C4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8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2D3A8C"/>
          </a:solidFill>
          <a:ln w="12700">
            <a:solidFill>
              <a:srgbClr val="2D3A8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109728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HISTORY &amp; MILESTONES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11480" y="822960"/>
            <a:ext cx="8321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2D3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Academic Research to $62B Valuation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411480" y="1325880"/>
            <a:ext cx="914400" cy="36576"/>
          </a:xfrm>
          <a:prstGeom prst="rect">
            <a:avLst/>
          </a:prstGeom>
          <a:solidFill>
            <a:srgbClr val="00BCD4"/>
          </a:solidFill>
          <a:ln w="12700">
            <a:solidFill>
              <a:srgbClr val="00BCD4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3200400"/>
            <a:ext cx="8229600" cy="54864"/>
          </a:xfrm>
          <a:prstGeom prst="rect">
            <a:avLst/>
          </a:prstGeom>
          <a:solidFill>
            <a:srgbClr val="4A6FB5"/>
          </a:solidFill>
          <a:ln w="12700">
            <a:solidFill>
              <a:srgbClr val="4A6FB5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56616" y="3099816"/>
            <a:ext cx="219456" cy="219456"/>
          </a:xfrm>
          <a:prstGeom prst="ellipse">
            <a:avLst/>
          </a:prstGeom>
          <a:solidFill>
            <a:srgbClr val="2D3A8C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57200" y="2651760"/>
            <a:ext cx="18288" cy="548640"/>
          </a:xfrm>
          <a:prstGeom prst="rect">
            <a:avLst/>
          </a:prstGeom>
          <a:solidFill>
            <a:srgbClr val="B0C4DE"/>
          </a:solidFill>
          <a:ln w="12700">
            <a:solidFill>
              <a:srgbClr val="B0C4DE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3152" y="2377440"/>
            <a:ext cx="80467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D3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2009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-274320" y="1938528"/>
            <a:ext cx="1508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Apache Spark born</a:t>
            </a:r>
            <a:endParaRPr lang="en-US" sz="8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 UC Berkeley</a:t>
            </a:r>
            <a:endParaRPr lang="en-US" sz="800" dirty="0"/>
          </a:p>
        </p:txBody>
      </p:sp>
      <p:sp>
        <p:nvSpPr>
          <p:cNvPr id="11" name="Shape 9"/>
          <p:cNvSpPr/>
          <p:nvPr/>
        </p:nvSpPr>
        <p:spPr>
          <a:xfrm>
            <a:off x="2002536" y="3099816"/>
            <a:ext cx="219456" cy="219456"/>
          </a:xfrm>
          <a:prstGeom prst="ellipse">
            <a:avLst/>
          </a:prstGeom>
          <a:solidFill>
            <a:srgbClr val="2D3A8C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2103120" y="3346704"/>
            <a:ext cx="18288" cy="548640"/>
          </a:xfrm>
          <a:prstGeom prst="rect">
            <a:avLst/>
          </a:prstGeom>
          <a:solidFill>
            <a:srgbClr val="B0C4DE"/>
          </a:solidFill>
          <a:ln w="12700">
            <a:solidFill>
              <a:srgbClr val="B0C4DE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719072" y="3913632"/>
            <a:ext cx="80467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D3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2013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1371600" y="4169664"/>
            <a:ext cx="1508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Databricks founded</a:t>
            </a:r>
            <a:endParaRPr lang="en-US" sz="8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by Spark creators</a:t>
            </a:r>
            <a:endParaRPr lang="en-US" sz="800" dirty="0"/>
          </a:p>
        </p:txBody>
      </p:sp>
      <p:sp>
        <p:nvSpPr>
          <p:cNvPr id="15" name="Shape 13"/>
          <p:cNvSpPr/>
          <p:nvPr/>
        </p:nvSpPr>
        <p:spPr>
          <a:xfrm>
            <a:off x="3648456" y="3099816"/>
            <a:ext cx="219456" cy="219456"/>
          </a:xfrm>
          <a:prstGeom prst="ellipse">
            <a:avLst/>
          </a:prstGeom>
          <a:solidFill>
            <a:srgbClr val="2D3A8C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3749040" y="2651760"/>
            <a:ext cx="18288" cy="548640"/>
          </a:xfrm>
          <a:prstGeom prst="rect">
            <a:avLst/>
          </a:prstGeom>
          <a:solidFill>
            <a:srgbClr val="B0C4DE"/>
          </a:solidFill>
          <a:ln w="12700">
            <a:solidFill>
              <a:srgbClr val="B0C4DE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364992" y="2377440"/>
            <a:ext cx="80467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D3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2016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3017520" y="1938528"/>
            <a:ext cx="1508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Series B $60M;</a:t>
            </a:r>
            <a:endParaRPr lang="en-US" sz="8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 platform</a:t>
            </a:r>
            <a:endParaRPr lang="en-US" sz="800" dirty="0"/>
          </a:p>
        </p:txBody>
      </p:sp>
      <p:sp>
        <p:nvSpPr>
          <p:cNvPr id="19" name="Shape 17"/>
          <p:cNvSpPr/>
          <p:nvPr/>
        </p:nvSpPr>
        <p:spPr>
          <a:xfrm>
            <a:off x="5294376" y="3099816"/>
            <a:ext cx="219456" cy="219456"/>
          </a:xfrm>
          <a:prstGeom prst="ellipse">
            <a:avLst/>
          </a:prstGeom>
          <a:solidFill>
            <a:srgbClr val="2D3A8C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5394960" y="3346704"/>
            <a:ext cx="18288" cy="548640"/>
          </a:xfrm>
          <a:prstGeom prst="rect">
            <a:avLst/>
          </a:prstGeom>
          <a:solidFill>
            <a:srgbClr val="B0C4DE"/>
          </a:solidFill>
          <a:ln w="12700">
            <a:solidFill>
              <a:srgbClr val="B0C4DE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010912" y="3913632"/>
            <a:ext cx="80467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D3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2019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4663440" y="4169664"/>
            <a:ext cx="1508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Delta Lake</a:t>
            </a:r>
            <a:endParaRPr lang="en-US" sz="8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open-sourced</a:t>
            </a:r>
            <a:endParaRPr lang="en-US" sz="800" dirty="0"/>
          </a:p>
        </p:txBody>
      </p:sp>
      <p:sp>
        <p:nvSpPr>
          <p:cNvPr id="23" name="Shape 21"/>
          <p:cNvSpPr/>
          <p:nvPr/>
        </p:nvSpPr>
        <p:spPr>
          <a:xfrm>
            <a:off x="6940296" y="3099816"/>
            <a:ext cx="219456" cy="219456"/>
          </a:xfrm>
          <a:prstGeom prst="ellipse">
            <a:avLst/>
          </a:prstGeom>
          <a:solidFill>
            <a:srgbClr val="2D3A8C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7040880" y="2651760"/>
            <a:ext cx="18288" cy="548640"/>
          </a:xfrm>
          <a:prstGeom prst="rect">
            <a:avLst/>
          </a:prstGeom>
          <a:solidFill>
            <a:srgbClr val="B0C4DE"/>
          </a:solidFill>
          <a:ln w="12700">
            <a:solidFill>
              <a:srgbClr val="B0C4DE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656832" y="2377440"/>
            <a:ext cx="80467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D3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2021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6309360" y="1938528"/>
            <a:ext cx="1508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$1.6B Series H</a:t>
            </a:r>
            <a:endParaRPr lang="en-US" sz="8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$28B valuation</a:t>
            </a:r>
            <a:endParaRPr lang="en-US" sz="800" dirty="0"/>
          </a:p>
        </p:txBody>
      </p:sp>
      <p:sp>
        <p:nvSpPr>
          <p:cNvPr id="27" name="Shape 25"/>
          <p:cNvSpPr/>
          <p:nvPr/>
        </p:nvSpPr>
        <p:spPr>
          <a:xfrm>
            <a:off x="8586216" y="3099816"/>
            <a:ext cx="219456" cy="219456"/>
          </a:xfrm>
          <a:prstGeom prst="ellipse">
            <a:avLst/>
          </a:prstGeom>
          <a:solidFill>
            <a:srgbClr val="00BCD4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8686800" y="3346704"/>
            <a:ext cx="18288" cy="548640"/>
          </a:xfrm>
          <a:prstGeom prst="rect">
            <a:avLst/>
          </a:prstGeom>
          <a:solidFill>
            <a:srgbClr val="B0C4DE"/>
          </a:solidFill>
          <a:ln w="12700">
            <a:solidFill>
              <a:srgbClr val="B0C4DE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8302752" y="3913632"/>
            <a:ext cx="80467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D3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2023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7955280" y="4169664"/>
            <a:ext cx="1508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MosaicML $1.3B</a:t>
            </a:r>
            <a:endParaRPr lang="en-US" sz="8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 push</a:t>
            </a:r>
            <a:endParaRPr lang="en-US" sz="800" dirty="0"/>
          </a:p>
        </p:txBody>
      </p:sp>
      <p:pic>
        <p:nvPicPr>
          <p:cNvPr id="31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406640" y="4681728"/>
            <a:ext cx="1508760" cy="411480"/>
          </a:xfrm>
          <a:prstGeom prst="rect">
            <a:avLst/>
          </a:prstGeom>
        </p:spPr>
      </p:pic>
      <p:sp>
        <p:nvSpPr>
          <p:cNvPr id="32" name="Text 29"/>
          <p:cNvSpPr/>
          <p:nvPr/>
        </p:nvSpPr>
        <p:spPr>
          <a:xfrm>
            <a:off x="8686800" y="4846320"/>
            <a:ext cx="320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B0C4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8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2D3A8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5143500"/>
          </a:xfrm>
          <a:prstGeom prst="rect">
            <a:avLst/>
          </a:prstGeom>
          <a:solidFill>
            <a:srgbClr val="00BCD4"/>
          </a:solidFill>
          <a:ln w="12700">
            <a:solidFill>
              <a:srgbClr val="00BCD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34747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400" kern="0" dirty="0">
                <a:solidFill>
                  <a:srgbClr val="9BB5D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TAKEAWAYS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502920" y="731520"/>
            <a:ext cx="7772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Databricks Matters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502920" y="1444752"/>
            <a:ext cx="5029200" cy="27432"/>
          </a:xfrm>
          <a:prstGeom prst="rect">
            <a:avLst/>
          </a:prstGeom>
          <a:solidFill>
            <a:srgbClr val="2A5A8A"/>
          </a:solidFill>
          <a:ln w="12700">
            <a:solidFill>
              <a:srgbClr val="2A5A8A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02920" y="1627632"/>
            <a:ext cx="438912" cy="438912"/>
          </a:xfrm>
          <a:prstGeom prst="rect">
            <a:avLst/>
          </a:prstGeom>
          <a:solidFill>
            <a:srgbClr val="00BCD4"/>
          </a:solidFill>
          <a:ln w="12700">
            <a:solidFill>
              <a:srgbClr val="00BCD4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02920" y="1673352"/>
            <a:ext cx="43891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1078992" y="1645920"/>
            <a:ext cx="3474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 Leader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1078992" y="1883664"/>
            <a:ext cx="75895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8C4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 10,000 customers including 60% of the Fortune 500 — from startups to global enterprises.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502920" y="2322576"/>
            <a:ext cx="438912" cy="438912"/>
          </a:xfrm>
          <a:prstGeom prst="rect">
            <a:avLst/>
          </a:prstGeom>
          <a:solidFill>
            <a:srgbClr val="00BCD4"/>
          </a:solidFill>
          <a:ln w="12700">
            <a:solidFill>
              <a:srgbClr val="00BCD4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2368296"/>
            <a:ext cx="43891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1078992" y="2340864"/>
            <a:ext cx="3474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Ecosystem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1078992" y="2578608"/>
            <a:ext cx="75895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8C4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on open standards (Apache Spark, Delta Lake, MLflow) — no proprietary lock-in.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502920" y="3017520"/>
            <a:ext cx="438912" cy="438912"/>
          </a:xfrm>
          <a:prstGeom prst="rect">
            <a:avLst/>
          </a:prstGeom>
          <a:solidFill>
            <a:srgbClr val="00BCD4"/>
          </a:solidFill>
          <a:ln w="12700">
            <a:solidFill>
              <a:srgbClr val="00BCD4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02920" y="3063240"/>
            <a:ext cx="43891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1078992" y="3035808"/>
            <a:ext cx="3474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AI-First Vision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1078992" y="3273552"/>
            <a:ext cx="75895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8C4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Aggressive push into generative AI via LLM training infrastructure and the $1.3B MosaicML acquisition.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502920" y="3712464"/>
            <a:ext cx="438912" cy="438912"/>
          </a:xfrm>
          <a:prstGeom prst="rect">
            <a:avLst/>
          </a:prstGeom>
          <a:solidFill>
            <a:srgbClr val="00BCD4"/>
          </a:solidFill>
          <a:ln w="12700">
            <a:solidFill>
              <a:srgbClr val="00BCD4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02920" y="3758184"/>
            <a:ext cx="43891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1078992" y="3730752"/>
            <a:ext cx="3474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IPO on the Horizon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1078992" y="3968496"/>
            <a:ext cx="75895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8C4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Consistently cited as one of the most anticipated IPOs; $62B valuation as of 2024 fundraise.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6583680" y="4681728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spc="300" kern="0" dirty="0">
                <a:solidFill>
                  <a:srgbClr val="00BC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COPLUR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5029200" y="4892040"/>
            <a:ext cx="3840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7A9F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Bridging Talent &amp; Empowering Futures</a:t>
            </a:r>
            <a:endParaRPr lang="en-US" sz="750" dirty="0"/>
          </a:p>
        </p:txBody>
      </p:sp>
      <p:sp>
        <p:nvSpPr>
          <p:cNvPr id="24" name="Text 22"/>
          <p:cNvSpPr/>
          <p:nvPr/>
        </p:nvSpPr>
        <p:spPr>
          <a:xfrm>
            <a:off x="8686800" y="4846320"/>
            <a:ext cx="320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3A5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8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4F7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2D3A8C"/>
          </a:solidFill>
          <a:ln w="12700">
            <a:solidFill>
              <a:srgbClr val="2D3A8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109728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DATABRICKS PLATFORM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11480" y="804672"/>
            <a:ext cx="8321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2D3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Think of it as a Swiss Army knife for data.</a:t>
            </a:r>
            <a:endParaRPr lang="en-US" sz="2100" dirty="0"/>
          </a:p>
        </p:txBody>
      </p:sp>
      <p:sp>
        <p:nvSpPr>
          <p:cNvPr id="5" name="Shape 3"/>
          <p:cNvSpPr/>
          <p:nvPr/>
        </p:nvSpPr>
        <p:spPr>
          <a:xfrm>
            <a:off x="411480" y="1298448"/>
            <a:ext cx="914400" cy="36576"/>
          </a:xfrm>
          <a:prstGeom prst="rect">
            <a:avLst/>
          </a:prstGeom>
          <a:solidFill>
            <a:srgbClr val="00BCD4"/>
          </a:solidFill>
          <a:ln w="12700">
            <a:solidFill>
              <a:srgbClr val="00BCD4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11480" y="1444752"/>
            <a:ext cx="8321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Databricks bundles 5 core capabilities into one cloud workspace — so you never need to jump between tools: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320040" y="1938528"/>
            <a:ext cx="1609344" cy="2944368"/>
          </a:xfrm>
          <a:prstGeom prst="rect">
            <a:avLst/>
          </a:prstGeom>
          <a:solidFill>
            <a:srgbClr val="FFFFFF"/>
          </a:solidFill>
          <a:ln w="12700">
            <a:solidFill>
              <a:srgbClr val="E4EAF4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320040" y="1938528"/>
            <a:ext cx="1609344" cy="475488"/>
          </a:xfrm>
          <a:prstGeom prst="rect">
            <a:avLst/>
          </a:prstGeom>
          <a:solidFill>
            <a:srgbClr val="2D3A8C"/>
          </a:solidFill>
          <a:ln w="12700">
            <a:solidFill>
              <a:srgbClr val="2D3A8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20040" y="1956816"/>
            <a:ext cx="160934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⚡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411480" y="2450592"/>
            <a:ext cx="142646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2D3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b="1" dirty="0">
                <a:solidFill>
                  <a:srgbClr val="2D3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Engineering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429768" y="2999232"/>
            <a:ext cx="1389888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pipelines that move &amp; transform raw data (ETL). Uses Apache Spark under the hood.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2002536" y="1938528"/>
            <a:ext cx="1609344" cy="2944368"/>
          </a:xfrm>
          <a:prstGeom prst="rect">
            <a:avLst/>
          </a:prstGeom>
          <a:solidFill>
            <a:srgbClr val="FFFFFF"/>
          </a:solidFill>
          <a:ln w="12700">
            <a:solidFill>
              <a:srgbClr val="E4EAF4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2002536" y="1938528"/>
            <a:ext cx="1609344" cy="475488"/>
          </a:xfrm>
          <a:prstGeom prst="rect">
            <a:avLst/>
          </a:prstGeom>
          <a:solidFill>
            <a:srgbClr val="2D3A8C"/>
          </a:solidFill>
          <a:ln w="12700">
            <a:solidFill>
              <a:srgbClr val="2D3A8C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002536" y="1956816"/>
            <a:ext cx="160934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📊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2093976" y="2450592"/>
            <a:ext cx="142646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2D3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b="1" dirty="0">
                <a:solidFill>
                  <a:srgbClr val="2D3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Analytics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2112264" y="2999232"/>
            <a:ext cx="1389888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SQL queries on massive datasets. Like Excel, but for billions of rows.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3685032" y="1938528"/>
            <a:ext cx="1609344" cy="2944368"/>
          </a:xfrm>
          <a:prstGeom prst="rect">
            <a:avLst/>
          </a:prstGeom>
          <a:solidFill>
            <a:srgbClr val="FFFFFF"/>
          </a:solidFill>
          <a:ln w="12700">
            <a:solidFill>
              <a:srgbClr val="E4EAF4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3685032" y="1938528"/>
            <a:ext cx="1609344" cy="475488"/>
          </a:xfrm>
          <a:prstGeom prst="rect">
            <a:avLst/>
          </a:prstGeom>
          <a:solidFill>
            <a:srgbClr val="2D3A8C"/>
          </a:solidFill>
          <a:ln w="12700">
            <a:solidFill>
              <a:srgbClr val="2D3A8C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685032" y="1956816"/>
            <a:ext cx="160934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🤖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3776472" y="2450592"/>
            <a:ext cx="142646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2D3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Machine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b="1" dirty="0">
                <a:solidFill>
                  <a:srgbClr val="2D3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Learning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3794760" y="2999232"/>
            <a:ext cx="1389888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 &amp; deploy ML models. Built-in MLflow tracks experiments so nothing gets lost.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5367528" y="1938528"/>
            <a:ext cx="1609344" cy="2944368"/>
          </a:xfrm>
          <a:prstGeom prst="rect">
            <a:avLst/>
          </a:prstGeom>
          <a:solidFill>
            <a:srgbClr val="FFFFFF"/>
          </a:solidFill>
          <a:ln w="12700">
            <a:solidFill>
              <a:srgbClr val="E4EAF4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5367528" y="1938528"/>
            <a:ext cx="1609344" cy="475488"/>
          </a:xfrm>
          <a:prstGeom prst="rect">
            <a:avLst/>
          </a:prstGeom>
          <a:solidFill>
            <a:srgbClr val="2D3A8C"/>
          </a:solidFill>
          <a:ln w="12700">
            <a:solidFill>
              <a:srgbClr val="2D3A8C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367528" y="1956816"/>
            <a:ext cx="160934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📦</a:t>
            </a:r>
            <a:endParaRPr lang="en-US" sz="2000" dirty="0"/>
          </a:p>
        </p:txBody>
      </p:sp>
      <p:sp>
        <p:nvSpPr>
          <p:cNvPr id="25" name="Text 23"/>
          <p:cNvSpPr/>
          <p:nvPr/>
        </p:nvSpPr>
        <p:spPr>
          <a:xfrm>
            <a:off x="5458968" y="2450592"/>
            <a:ext cx="142646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2D3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b="1" dirty="0">
                <a:solidFill>
                  <a:srgbClr val="2D3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Warehouse</a:t>
            </a:r>
            <a:endParaRPr lang="en-US" sz="1050" dirty="0"/>
          </a:p>
        </p:txBody>
      </p:sp>
      <p:sp>
        <p:nvSpPr>
          <p:cNvPr id="26" name="Text 24"/>
          <p:cNvSpPr/>
          <p:nvPr/>
        </p:nvSpPr>
        <p:spPr>
          <a:xfrm>
            <a:off x="5477256" y="2999232"/>
            <a:ext cx="1389888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Store clean, structured data ready for reports &amp; dashboards (via Databricks SQL).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7050024" y="1938528"/>
            <a:ext cx="1609344" cy="2944368"/>
          </a:xfrm>
          <a:prstGeom prst="rect">
            <a:avLst/>
          </a:prstGeom>
          <a:solidFill>
            <a:srgbClr val="FFFFFF"/>
          </a:solidFill>
          <a:ln w="12700">
            <a:solidFill>
              <a:srgbClr val="E4EAF4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7050024" y="1938528"/>
            <a:ext cx="1609344" cy="475488"/>
          </a:xfrm>
          <a:prstGeom prst="rect">
            <a:avLst/>
          </a:prstGeom>
          <a:solidFill>
            <a:srgbClr val="2D3A8C"/>
          </a:solidFill>
          <a:ln w="12700">
            <a:solidFill>
              <a:srgbClr val="2D3A8C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7050024" y="1956816"/>
            <a:ext cx="160934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🔒</a:t>
            </a:r>
            <a:endParaRPr lang="en-US" sz="2000" dirty="0"/>
          </a:p>
        </p:txBody>
      </p:sp>
      <p:sp>
        <p:nvSpPr>
          <p:cNvPr id="30" name="Text 28"/>
          <p:cNvSpPr/>
          <p:nvPr/>
        </p:nvSpPr>
        <p:spPr>
          <a:xfrm>
            <a:off x="7141464" y="2450592"/>
            <a:ext cx="142646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2D3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Unity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b="1" dirty="0">
                <a:solidFill>
                  <a:srgbClr val="2D3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Catalog</a:t>
            </a:r>
            <a:endParaRPr lang="en-US" sz="1050" dirty="0"/>
          </a:p>
        </p:txBody>
      </p:sp>
      <p:sp>
        <p:nvSpPr>
          <p:cNvPr id="31" name="Text 29"/>
          <p:cNvSpPr/>
          <p:nvPr/>
        </p:nvSpPr>
        <p:spPr>
          <a:xfrm>
            <a:off x="7159752" y="2999232"/>
            <a:ext cx="1389888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place to govern who can see what data across your whole organisation.</a:t>
            </a:r>
            <a:endParaRPr lang="en-US" sz="950" dirty="0"/>
          </a:p>
        </p:txBody>
      </p:sp>
      <p:pic>
        <p:nvPicPr>
          <p:cNvPr id="3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406640" y="4681728"/>
            <a:ext cx="1508760" cy="411480"/>
          </a:xfrm>
          <a:prstGeom prst="rect">
            <a:avLst/>
          </a:prstGeom>
        </p:spPr>
      </p:pic>
      <p:sp>
        <p:nvSpPr>
          <p:cNvPr id="33" name="Text 30"/>
          <p:cNvSpPr/>
          <p:nvPr/>
        </p:nvSpPr>
        <p:spPr>
          <a:xfrm>
            <a:off x="8686800" y="4846320"/>
            <a:ext cx="320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B0C4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8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2D3A8C"/>
          </a:solidFill>
          <a:ln w="12700">
            <a:solidFill>
              <a:srgbClr val="2D3A8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109728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TERMS — PLAIN ENGLISH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11480" y="804672"/>
            <a:ext cx="83210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2D3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concepts every data engineering student must know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411480" y="1280160"/>
            <a:ext cx="914400" cy="36576"/>
          </a:xfrm>
          <a:prstGeom prst="rect">
            <a:avLst/>
          </a:prstGeom>
          <a:solidFill>
            <a:srgbClr val="00BCD4"/>
          </a:solidFill>
          <a:ln w="12700">
            <a:solidFill>
              <a:srgbClr val="00BCD4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74320" y="1444752"/>
            <a:ext cx="292608" cy="1078992"/>
          </a:xfrm>
          <a:prstGeom prst="rect">
            <a:avLst/>
          </a:prstGeom>
          <a:solidFill>
            <a:srgbClr val="2D3A8C"/>
          </a:solidFill>
          <a:ln w="12700">
            <a:solidFill>
              <a:srgbClr val="2D3A8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74320" y="1828800"/>
            <a:ext cx="2926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566928" y="1444752"/>
            <a:ext cx="8302752" cy="1078992"/>
          </a:xfrm>
          <a:prstGeom prst="rect">
            <a:avLst/>
          </a:prstGeom>
          <a:solidFill>
            <a:srgbClr val="F4F7FC"/>
          </a:solidFill>
          <a:ln w="12700">
            <a:solidFill>
              <a:srgbClr val="E4EAF4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713232" y="1536192"/>
            <a:ext cx="2377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D3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⚡  Apache Spark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713232" y="1883664"/>
            <a:ext cx="2377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engine powering big data processing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3218688" y="1554480"/>
            <a:ext cx="18288" cy="859536"/>
          </a:xfrm>
          <a:prstGeom prst="rect">
            <a:avLst/>
          </a:prstGeom>
          <a:solidFill>
            <a:srgbClr val="E4EAF4"/>
          </a:solidFill>
          <a:ln w="12700">
            <a:solidFill>
              <a:srgbClr val="E4EAF4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364992" y="1536192"/>
            <a:ext cx="53035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2D3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plain English:</a:t>
            </a:r>
            <a:endParaRPr lang="en-US" sz="850" dirty="0"/>
          </a:p>
        </p:txBody>
      </p:sp>
      <p:sp>
        <p:nvSpPr>
          <p:cNvPr id="13" name="Text 11"/>
          <p:cNvSpPr/>
          <p:nvPr/>
        </p:nvSpPr>
        <p:spPr>
          <a:xfrm>
            <a:off x="3364992" y="1746504"/>
            <a:ext cx="53035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Think of Spark as a Formula 1 car engine — it processes data across hundreds of computers in parallel, making tasks that would take hours on a laptop finish in seconds. Databricks was built by the creators of Spark.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274320" y="2633472"/>
            <a:ext cx="292608" cy="1078992"/>
          </a:xfrm>
          <a:prstGeom prst="rect">
            <a:avLst/>
          </a:prstGeom>
          <a:solidFill>
            <a:srgbClr val="0F7173"/>
          </a:solidFill>
          <a:ln w="12700">
            <a:solidFill>
              <a:srgbClr val="0F7173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274320" y="3017520"/>
            <a:ext cx="2926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566928" y="2633472"/>
            <a:ext cx="8302752" cy="1078992"/>
          </a:xfrm>
          <a:prstGeom prst="rect">
            <a:avLst/>
          </a:prstGeom>
          <a:solidFill>
            <a:srgbClr val="F4F7FC"/>
          </a:solidFill>
          <a:ln w="12700">
            <a:solidFill>
              <a:srgbClr val="E4EAF4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713232" y="2724912"/>
            <a:ext cx="2377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71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🏠  Lakehouse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713232" y="3072384"/>
            <a:ext cx="2377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of a data lake + data warehouse, combined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3218688" y="2743200"/>
            <a:ext cx="18288" cy="859536"/>
          </a:xfrm>
          <a:prstGeom prst="rect">
            <a:avLst/>
          </a:prstGeom>
          <a:solidFill>
            <a:srgbClr val="E4EAF4"/>
          </a:solidFill>
          <a:ln w="12700">
            <a:solidFill>
              <a:srgbClr val="E4EAF4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364992" y="2724912"/>
            <a:ext cx="53035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F71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plain English:</a:t>
            </a:r>
            <a:endParaRPr lang="en-US" sz="850" dirty="0"/>
          </a:p>
        </p:txBody>
      </p:sp>
      <p:sp>
        <p:nvSpPr>
          <p:cNvPr id="21" name="Text 19"/>
          <p:cNvSpPr/>
          <p:nvPr/>
        </p:nvSpPr>
        <p:spPr>
          <a:xfrm>
            <a:off x="3364992" y="2935224"/>
            <a:ext cx="53035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data lake stores everything raw (like a giant hard drive). A data warehouse stores only clean, structured data (like a filing cabinet). A Lakehouse gives you both — raw storage with warehouse-grade query speed and reliability.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274320" y="3822192"/>
            <a:ext cx="292608" cy="1078992"/>
          </a:xfrm>
          <a:prstGeom prst="rect">
            <a:avLst/>
          </a:prstGeom>
          <a:solidFill>
            <a:srgbClr val="5C4D7D"/>
          </a:solidFill>
          <a:ln w="12700">
            <a:solidFill>
              <a:srgbClr val="5C4D7D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274320" y="4206240"/>
            <a:ext cx="2926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566928" y="3822192"/>
            <a:ext cx="8302752" cy="1078992"/>
          </a:xfrm>
          <a:prstGeom prst="rect">
            <a:avLst/>
          </a:prstGeom>
          <a:solidFill>
            <a:srgbClr val="F4F7FC"/>
          </a:solidFill>
          <a:ln w="12700">
            <a:solidFill>
              <a:srgbClr val="E4EAF4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713232" y="3913632"/>
            <a:ext cx="2377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5C4D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🗄️  Delta Lake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713232" y="4261104"/>
            <a:ext cx="2377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reliability layer on top of your data lake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3218688" y="3931920"/>
            <a:ext cx="18288" cy="859536"/>
          </a:xfrm>
          <a:prstGeom prst="rect">
            <a:avLst/>
          </a:prstGeom>
          <a:solidFill>
            <a:srgbClr val="E4EAF4"/>
          </a:solidFill>
          <a:ln w="12700">
            <a:solidFill>
              <a:srgbClr val="E4EAF4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3364992" y="3913632"/>
            <a:ext cx="53035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5C4D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plain English:</a:t>
            </a:r>
            <a:endParaRPr lang="en-US" sz="850" dirty="0"/>
          </a:p>
        </p:txBody>
      </p:sp>
      <p:sp>
        <p:nvSpPr>
          <p:cNvPr id="29" name="Text 27"/>
          <p:cNvSpPr/>
          <p:nvPr/>
        </p:nvSpPr>
        <p:spPr>
          <a:xfrm>
            <a:off x="3364992" y="4123944"/>
            <a:ext cx="53035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Imagine sharing a Google Doc where anyone can edit — without Google Docs' version history it'd be chaos. Delta Lake adds that version history (called time travel), ACID transactions, and data quality checks to your raw data lake storage.</a:t>
            </a:r>
            <a:endParaRPr lang="en-US" sz="950" dirty="0"/>
          </a:p>
        </p:txBody>
      </p:sp>
      <p:pic>
        <p:nvPicPr>
          <p:cNvPr id="30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406640" y="4681728"/>
            <a:ext cx="1508760" cy="411480"/>
          </a:xfrm>
          <a:prstGeom prst="rect">
            <a:avLst/>
          </a:prstGeom>
        </p:spPr>
      </p:pic>
      <p:sp>
        <p:nvSpPr>
          <p:cNvPr id="31" name="Text 28"/>
          <p:cNvSpPr/>
          <p:nvPr/>
        </p:nvSpPr>
        <p:spPr>
          <a:xfrm>
            <a:off x="8686800" y="4846320"/>
            <a:ext cx="320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B0C4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8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4F7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2D3A8C"/>
          </a:solidFill>
          <a:ln w="12700">
            <a:solidFill>
              <a:srgbClr val="2D3A8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109728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FLOW IN DATABRICKS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11480" y="804672"/>
            <a:ext cx="83210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2D3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raw data to business insight — in one platform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411480" y="1280160"/>
            <a:ext cx="914400" cy="36576"/>
          </a:xfrm>
          <a:prstGeom prst="rect">
            <a:avLst/>
          </a:prstGeom>
          <a:solidFill>
            <a:srgbClr val="00BCD4"/>
          </a:solidFill>
          <a:ln w="12700">
            <a:solidFill>
              <a:srgbClr val="00BCD4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11480" y="1417320"/>
            <a:ext cx="8321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Real-world example: An e-commerce company tracking customer orders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320040" y="1874520"/>
            <a:ext cx="1371600" cy="2331720"/>
          </a:xfrm>
          <a:prstGeom prst="rect">
            <a:avLst/>
          </a:prstGeom>
          <a:solidFill>
            <a:srgbClr val="FFFFFF"/>
          </a:solidFill>
          <a:ln w="12700">
            <a:solidFill>
              <a:srgbClr val="E4EAF4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320040" y="1874520"/>
            <a:ext cx="1371600" cy="438912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20040" y="1911096"/>
            <a:ext cx="1371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📥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393192" y="2350008"/>
            <a:ext cx="122529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Ingest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393192" y="2642616"/>
            <a:ext cx="122529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Raw Sources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484632" y="2935224"/>
            <a:ext cx="1042416" cy="18288"/>
          </a:xfrm>
          <a:prstGeom prst="rect">
            <a:avLst/>
          </a:prstGeom>
          <a:solidFill>
            <a:srgbClr val="E4EAF4"/>
          </a:solidFill>
          <a:ln w="12700">
            <a:solidFill>
              <a:srgbClr val="E4EAF4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11480" y="3017520"/>
            <a:ext cx="1188720" cy="10789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Orders DB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Server logs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CSV uploads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1746504" y="3022092"/>
            <a:ext cx="164592" cy="45720"/>
          </a:xfrm>
          <a:prstGeom prst="rect">
            <a:avLst/>
          </a:prstGeom>
          <a:solidFill>
            <a:srgbClr val="4A6FB5"/>
          </a:solidFill>
          <a:ln w="12700">
            <a:solidFill>
              <a:srgbClr val="4A6FB5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856232" y="2921508"/>
            <a:ext cx="16459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4A6F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1984248" y="1874520"/>
            <a:ext cx="1371600" cy="2331720"/>
          </a:xfrm>
          <a:prstGeom prst="rect">
            <a:avLst/>
          </a:prstGeom>
          <a:solidFill>
            <a:srgbClr val="FFFFFF"/>
          </a:solidFill>
          <a:ln w="12700">
            <a:solidFill>
              <a:srgbClr val="E4EAF4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1984248" y="1874520"/>
            <a:ext cx="1371600" cy="438912"/>
          </a:xfrm>
          <a:prstGeom prst="rect">
            <a:avLst/>
          </a:prstGeom>
          <a:solidFill>
            <a:srgbClr val="0F7173"/>
          </a:solidFill>
          <a:ln w="12700">
            <a:solidFill>
              <a:srgbClr val="0F7173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984248" y="1911096"/>
            <a:ext cx="1371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🗄️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2057400" y="2350008"/>
            <a:ext cx="122529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F71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Store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2057400" y="2642616"/>
            <a:ext cx="122529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Delta Lake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2148840" y="2935224"/>
            <a:ext cx="1042416" cy="18288"/>
          </a:xfrm>
          <a:prstGeom prst="rect">
            <a:avLst/>
          </a:prstGeom>
          <a:solidFill>
            <a:srgbClr val="E4EAF4"/>
          </a:solidFill>
          <a:ln w="12700">
            <a:solidFill>
              <a:srgbClr val="E4EAF4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2075688" y="3017520"/>
            <a:ext cx="1188720" cy="10789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Raw data stored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 Delta tables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3410712" y="3022092"/>
            <a:ext cx="164592" cy="45720"/>
          </a:xfrm>
          <a:prstGeom prst="rect">
            <a:avLst/>
          </a:prstGeom>
          <a:solidFill>
            <a:srgbClr val="4A6FB5"/>
          </a:solidFill>
          <a:ln w="12700">
            <a:solidFill>
              <a:srgbClr val="4A6FB5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520440" y="2921508"/>
            <a:ext cx="16459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4A6F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3648456" y="1874520"/>
            <a:ext cx="1371600" cy="2331720"/>
          </a:xfrm>
          <a:prstGeom prst="rect">
            <a:avLst/>
          </a:prstGeom>
          <a:solidFill>
            <a:srgbClr val="FFFFFF"/>
          </a:solidFill>
          <a:ln w="12700">
            <a:solidFill>
              <a:srgbClr val="E4EAF4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3648456" y="1874520"/>
            <a:ext cx="1371600" cy="438912"/>
          </a:xfrm>
          <a:prstGeom prst="rect">
            <a:avLst/>
          </a:prstGeom>
          <a:solidFill>
            <a:srgbClr val="6A0DAD"/>
          </a:solidFill>
          <a:ln w="12700">
            <a:solidFill>
              <a:srgbClr val="6A0DAD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648456" y="1911096"/>
            <a:ext cx="1371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⚡</a:t>
            </a:r>
            <a:endParaRPr lang="en-US" sz="1800" dirty="0"/>
          </a:p>
        </p:txBody>
      </p:sp>
      <p:sp>
        <p:nvSpPr>
          <p:cNvPr id="28" name="Text 26"/>
          <p:cNvSpPr/>
          <p:nvPr/>
        </p:nvSpPr>
        <p:spPr>
          <a:xfrm>
            <a:off x="3721608" y="2350008"/>
            <a:ext cx="122529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A0D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Transform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3721608" y="2642616"/>
            <a:ext cx="122529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Apache Spark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3813048" y="2935224"/>
            <a:ext cx="1042416" cy="18288"/>
          </a:xfrm>
          <a:prstGeom prst="rect">
            <a:avLst/>
          </a:prstGeom>
          <a:solidFill>
            <a:srgbClr val="E4EAF4"/>
          </a:solidFill>
          <a:ln w="12700">
            <a:solidFill>
              <a:srgbClr val="E4EAF4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3739896" y="3017520"/>
            <a:ext cx="1188720" cy="10789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Clean, join &amp;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aggregate data</a:t>
            </a:r>
            <a:endParaRPr lang="en-US" sz="950" dirty="0"/>
          </a:p>
        </p:txBody>
      </p:sp>
      <p:sp>
        <p:nvSpPr>
          <p:cNvPr id="32" name="Shape 30"/>
          <p:cNvSpPr/>
          <p:nvPr/>
        </p:nvSpPr>
        <p:spPr>
          <a:xfrm>
            <a:off x="5074920" y="3022092"/>
            <a:ext cx="164592" cy="45720"/>
          </a:xfrm>
          <a:prstGeom prst="rect">
            <a:avLst/>
          </a:prstGeom>
          <a:solidFill>
            <a:srgbClr val="4A6FB5"/>
          </a:solidFill>
          <a:ln w="12700">
            <a:solidFill>
              <a:srgbClr val="4A6FB5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5184648" y="2921508"/>
            <a:ext cx="16459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4A6F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5312664" y="1874520"/>
            <a:ext cx="1371600" cy="2331720"/>
          </a:xfrm>
          <a:prstGeom prst="rect">
            <a:avLst/>
          </a:prstGeom>
          <a:solidFill>
            <a:srgbClr val="FFFFFF"/>
          </a:solidFill>
          <a:ln w="12700">
            <a:solidFill>
              <a:srgbClr val="E4EAF4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35" name="Shape 33"/>
          <p:cNvSpPr/>
          <p:nvPr/>
        </p:nvSpPr>
        <p:spPr>
          <a:xfrm>
            <a:off x="5312664" y="1874520"/>
            <a:ext cx="1371600" cy="438912"/>
          </a:xfrm>
          <a:prstGeom prst="rect">
            <a:avLst/>
          </a:prstGeom>
          <a:solidFill>
            <a:srgbClr val="B36200"/>
          </a:solidFill>
          <a:ln w="12700">
            <a:solidFill>
              <a:srgbClr val="B36200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5312664" y="1911096"/>
            <a:ext cx="1371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🔍</a:t>
            </a:r>
            <a:endParaRPr lang="en-US" sz="1800" dirty="0"/>
          </a:p>
        </p:txBody>
      </p:sp>
      <p:sp>
        <p:nvSpPr>
          <p:cNvPr id="37" name="Text 35"/>
          <p:cNvSpPr/>
          <p:nvPr/>
        </p:nvSpPr>
        <p:spPr>
          <a:xfrm>
            <a:off x="5385816" y="2350008"/>
            <a:ext cx="122529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B362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Query</a:t>
            </a:r>
            <a:endParaRPr lang="en-US" sz="1200" dirty="0"/>
          </a:p>
        </p:txBody>
      </p:sp>
      <p:sp>
        <p:nvSpPr>
          <p:cNvPr id="38" name="Text 36"/>
          <p:cNvSpPr/>
          <p:nvPr/>
        </p:nvSpPr>
        <p:spPr>
          <a:xfrm>
            <a:off x="5385816" y="2642616"/>
            <a:ext cx="122529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Databricks SQL</a:t>
            </a:r>
            <a:endParaRPr lang="en-US" sz="900" dirty="0"/>
          </a:p>
        </p:txBody>
      </p:sp>
      <p:sp>
        <p:nvSpPr>
          <p:cNvPr id="39" name="Shape 37"/>
          <p:cNvSpPr/>
          <p:nvPr/>
        </p:nvSpPr>
        <p:spPr>
          <a:xfrm>
            <a:off x="5477256" y="2935224"/>
            <a:ext cx="1042416" cy="18288"/>
          </a:xfrm>
          <a:prstGeom prst="rect">
            <a:avLst/>
          </a:prstGeom>
          <a:solidFill>
            <a:srgbClr val="E4EAF4"/>
          </a:solidFill>
          <a:ln w="12700">
            <a:solidFill>
              <a:srgbClr val="E4EAF4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5404104" y="3017520"/>
            <a:ext cx="1188720" cy="10789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Analysts run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 on clean data</a:t>
            </a:r>
            <a:endParaRPr lang="en-US" sz="950" dirty="0"/>
          </a:p>
        </p:txBody>
      </p:sp>
      <p:sp>
        <p:nvSpPr>
          <p:cNvPr id="41" name="Shape 39"/>
          <p:cNvSpPr/>
          <p:nvPr/>
        </p:nvSpPr>
        <p:spPr>
          <a:xfrm>
            <a:off x="6739128" y="3022092"/>
            <a:ext cx="164592" cy="45720"/>
          </a:xfrm>
          <a:prstGeom prst="rect">
            <a:avLst/>
          </a:prstGeom>
          <a:solidFill>
            <a:srgbClr val="4A6FB5"/>
          </a:solidFill>
          <a:ln w="12700">
            <a:solidFill>
              <a:srgbClr val="4A6FB5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6848856" y="2921508"/>
            <a:ext cx="16459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4A6F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</a:t>
            </a:r>
            <a:endParaRPr lang="en-US" sz="1000" dirty="0"/>
          </a:p>
        </p:txBody>
      </p:sp>
      <p:sp>
        <p:nvSpPr>
          <p:cNvPr id="43" name="Shape 41"/>
          <p:cNvSpPr/>
          <p:nvPr/>
        </p:nvSpPr>
        <p:spPr>
          <a:xfrm>
            <a:off x="6976872" y="1874520"/>
            <a:ext cx="1371600" cy="2331720"/>
          </a:xfrm>
          <a:prstGeom prst="rect">
            <a:avLst/>
          </a:prstGeom>
          <a:solidFill>
            <a:srgbClr val="FFFFFF"/>
          </a:solidFill>
          <a:ln w="12700">
            <a:solidFill>
              <a:srgbClr val="E4EAF4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44" name="Shape 42"/>
          <p:cNvSpPr/>
          <p:nvPr/>
        </p:nvSpPr>
        <p:spPr>
          <a:xfrm>
            <a:off x="6976872" y="1874520"/>
            <a:ext cx="1371600" cy="438912"/>
          </a:xfrm>
          <a:prstGeom prst="rect">
            <a:avLst/>
          </a:prstGeom>
          <a:solidFill>
            <a:srgbClr val="C62828"/>
          </a:solidFill>
          <a:ln w="12700">
            <a:solidFill>
              <a:srgbClr val="C62828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6976872" y="1911096"/>
            <a:ext cx="1371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📊</a:t>
            </a:r>
            <a:endParaRPr lang="en-US" sz="1800" dirty="0"/>
          </a:p>
        </p:txBody>
      </p:sp>
      <p:sp>
        <p:nvSpPr>
          <p:cNvPr id="46" name="Text 44"/>
          <p:cNvSpPr/>
          <p:nvPr/>
        </p:nvSpPr>
        <p:spPr>
          <a:xfrm>
            <a:off x="7050024" y="2350008"/>
            <a:ext cx="122529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62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Visualise</a:t>
            </a:r>
            <a:endParaRPr lang="en-US" sz="1200" dirty="0"/>
          </a:p>
        </p:txBody>
      </p:sp>
      <p:sp>
        <p:nvSpPr>
          <p:cNvPr id="47" name="Text 45"/>
          <p:cNvSpPr/>
          <p:nvPr/>
        </p:nvSpPr>
        <p:spPr>
          <a:xfrm>
            <a:off x="7050024" y="2642616"/>
            <a:ext cx="122529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Dashboards</a:t>
            </a:r>
            <a:endParaRPr lang="en-US" sz="900" dirty="0"/>
          </a:p>
        </p:txBody>
      </p:sp>
      <p:sp>
        <p:nvSpPr>
          <p:cNvPr id="48" name="Shape 46"/>
          <p:cNvSpPr/>
          <p:nvPr/>
        </p:nvSpPr>
        <p:spPr>
          <a:xfrm>
            <a:off x="7141464" y="2935224"/>
            <a:ext cx="1042416" cy="18288"/>
          </a:xfrm>
          <a:prstGeom prst="rect">
            <a:avLst/>
          </a:prstGeom>
          <a:solidFill>
            <a:srgbClr val="E4EAF4"/>
          </a:solidFill>
          <a:ln w="12700">
            <a:solidFill>
              <a:srgbClr val="E4EAF4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7068312" y="3017520"/>
            <a:ext cx="1188720" cy="10789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Charts, KPIs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the business</a:t>
            </a:r>
            <a:endParaRPr lang="en-US" sz="950" dirty="0"/>
          </a:p>
        </p:txBody>
      </p:sp>
      <p:sp>
        <p:nvSpPr>
          <p:cNvPr id="50" name="Text 48"/>
          <p:cNvSpPr/>
          <p:nvPr/>
        </p:nvSpPr>
        <p:spPr>
          <a:xfrm>
            <a:off x="411480" y="4343400"/>
            <a:ext cx="8321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2D3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 Every arrow above is a step you will learn to build during this training programme.</a:t>
            </a:r>
            <a:endParaRPr lang="en-US" sz="950" dirty="0"/>
          </a:p>
        </p:txBody>
      </p:sp>
      <p:pic>
        <p:nvPicPr>
          <p:cNvPr id="51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406640" y="4681728"/>
            <a:ext cx="1508760" cy="411480"/>
          </a:xfrm>
          <a:prstGeom prst="rect">
            <a:avLst/>
          </a:prstGeom>
        </p:spPr>
      </p:pic>
      <p:sp>
        <p:nvSpPr>
          <p:cNvPr id="52" name="Text 49"/>
          <p:cNvSpPr/>
          <p:nvPr/>
        </p:nvSpPr>
        <p:spPr>
          <a:xfrm>
            <a:off x="8686800" y="4846320"/>
            <a:ext cx="320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B0C4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8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2D3A8C"/>
          </a:solidFill>
          <a:ln w="12700">
            <a:solidFill>
              <a:srgbClr val="2D3A8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109728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DATABRICKS IN THE REAL WORLD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11480" y="804672"/>
            <a:ext cx="83210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2D3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isn't theory — companies you know use it every day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411480" y="1280160"/>
            <a:ext cx="914400" cy="36576"/>
          </a:xfrm>
          <a:prstGeom prst="rect">
            <a:avLst/>
          </a:prstGeom>
          <a:solidFill>
            <a:srgbClr val="00BCD4"/>
          </a:solidFill>
          <a:ln w="12700">
            <a:solidFill>
              <a:srgbClr val="00BCD4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74320" y="1444752"/>
            <a:ext cx="256032" cy="1005840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30352" y="1444752"/>
            <a:ext cx="8339328" cy="1005840"/>
          </a:xfrm>
          <a:prstGeom prst="rect">
            <a:avLst/>
          </a:prstGeom>
          <a:solidFill>
            <a:srgbClr val="F4F7FC"/>
          </a:solidFill>
          <a:ln w="12700">
            <a:solidFill>
              <a:srgbClr val="E4EAF4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658368" y="1536192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🛒  Retail &amp; E-Commerce</a:t>
            </a:r>
            <a:endParaRPr lang="en-US" sz="1150" dirty="0"/>
          </a:p>
        </p:txBody>
      </p:sp>
      <p:sp>
        <p:nvSpPr>
          <p:cNvPr id="9" name="Text 7"/>
          <p:cNvSpPr/>
          <p:nvPr/>
        </p:nvSpPr>
        <p:spPr>
          <a:xfrm>
            <a:off x="658368" y="1828800"/>
            <a:ext cx="2286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Shell, Marks &amp; Spencer</a:t>
            </a:r>
            <a:endParaRPr lang="en-US" sz="850" dirty="0"/>
          </a:p>
        </p:txBody>
      </p:sp>
      <p:sp>
        <p:nvSpPr>
          <p:cNvPr id="10" name="Text 8"/>
          <p:cNvSpPr/>
          <p:nvPr/>
        </p:nvSpPr>
        <p:spPr>
          <a:xfrm>
            <a:off x="658368" y="2103120"/>
            <a:ext cx="23774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📈  Result: Faster restocking, personalised offers, reduced waste</a:t>
            </a:r>
            <a:endParaRPr lang="en-US" sz="850" dirty="0"/>
          </a:p>
        </p:txBody>
      </p:sp>
      <p:sp>
        <p:nvSpPr>
          <p:cNvPr id="11" name="Shape 9"/>
          <p:cNvSpPr/>
          <p:nvPr/>
        </p:nvSpPr>
        <p:spPr>
          <a:xfrm>
            <a:off x="3108960" y="1536192"/>
            <a:ext cx="18288" cy="822960"/>
          </a:xfrm>
          <a:prstGeom prst="rect">
            <a:avLst/>
          </a:prstGeom>
          <a:solidFill>
            <a:srgbClr val="E4EAF4"/>
          </a:solidFill>
          <a:ln w="12700">
            <a:solidFill>
              <a:srgbClr val="E4EAF4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246120" y="1536192"/>
            <a:ext cx="24688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0BC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</a:t>
            </a:r>
            <a:endParaRPr lang="en-US" sz="850" dirty="0"/>
          </a:p>
        </p:txBody>
      </p:sp>
      <p:sp>
        <p:nvSpPr>
          <p:cNvPr id="13" name="Text 11"/>
          <p:cNvSpPr/>
          <p:nvPr/>
        </p:nvSpPr>
        <p:spPr>
          <a:xfrm>
            <a:off x="3246120" y="1755648"/>
            <a:ext cx="246888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Millions of transactions daily across stores, apps, and websites — impossible to analyse in real time with old tools.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5833872" y="1536192"/>
            <a:ext cx="18288" cy="822960"/>
          </a:xfrm>
          <a:prstGeom prst="rect">
            <a:avLst/>
          </a:prstGeom>
          <a:solidFill>
            <a:srgbClr val="E4EAF4"/>
          </a:solidFill>
          <a:ln w="12700">
            <a:solidFill>
              <a:srgbClr val="E4EAF4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961888" y="1536192"/>
            <a:ext cx="2743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Databricks helps</a:t>
            </a:r>
            <a:endParaRPr lang="en-US" sz="850" dirty="0"/>
          </a:p>
        </p:txBody>
      </p:sp>
      <p:sp>
        <p:nvSpPr>
          <p:cNvPr id="16" name="Text 14"/>
          <p:cNvSpPr/>
          <p:nvPr/>
        </p:nvSpPr>
        <p:spPr>
          <a:xfrm>
            <a:off x="5961888" y="1755648"/>
            <a:ext cx="274320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Ingests point-of-sale data in real time → Spark transforms it → analysts query live dashboards to spot which products are selling and adjust pricing instantly.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274320" y="2560320"/>
            <a:ext cx="256032" cy="1005840"/>
          </a:xfrm>
          <a:prstGeom prst="rect">
            <a:avLst/>
          </a:prstGeom>
          <a:solidFill>
            <a:srgbClr val="0F7173"/>
          </a:solidFill>
          <a:ln w="12700">
            <a:solidFill>
              <a:srgbClr val="0F7173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530352" y="2560320"/>
            <a:ext cx="8339328" cy="1005840"/>
          </a:xfrm>
          <a:prstGeom prst="rect">
            <a:avLst/>
          </a:prstGeom>
          <a:solidFill>
            <a:srgbClr val="F4F7FC"/>
          </a:solidFill>
          <a:ln w="12700">
            <a:solidFill>
              <a:srgbClr val="E4EAF4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658368" y="265176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F71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🏥  Healthcare</a:t>
            </a:r>
            <a:endParaRPr lang="en-US" sz="1150" dirty="0"/>
          </a:p>
        </p:txBody>
      </p:sp>
      <p:sp>
        <p:nvSpPr>
          <p:cNvPr id="20" name="Text 18"/>
          <p:cNvSpPr/>
          <p:nvPr/>
        </p:nvSpPr>
        <p:spPr>
          <a:xfrm>
            <a:off x="658368" y="2944368"/>
            <a:ext cx="2286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Pfizer, NHS trusts</a:t>
            </a:r>
            <a:endParaRPr lang="en-US" sz="850" dirty="0"/>
          </a:p>
        </p:txBody>
      </p:sp>
      <p:sp>
        <p:nvSpPr>
          <p:cNvPr id="21" name="Text 19"/>
          <p:cNvSpPr/>
          <p:nvPr/>
        </p:nvSpPr>
        <p:spPr>
          <a:xfrm>
            <a:off x="658368" y="3218688"/>
            <a:ext cx="23774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0F71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📈  Result: Earlier diagnosis, faster drug trials, better outcomes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3108960" y="2651760"/>
            <a:ext cx="18288" cy="822960"/>
          </a:xfrm>
          <a:prstGeom prst="rect">
            <a:avLst/>
          </a:prstGeom>
          <a:solidFill>
            <a:srgbClr val="E4EAF4"/>
          </a:solidFill>
          <a:ln w="12700">
            <a:solidFill>
              <a:srgbClr val="E4EAF4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246120" y="2651760"/>
            <a:ext cx="24688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0BC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3246120" y="2871216"/>
            <a:ext cx="246888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Patient records live in dozens of siloed hospital systems — doctors can't see the full picture, and research takes years.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5833872" y="2651760"/>
            <a:ext cx="18288" cy="822960"/>
          </a:xfrm>
          <a:prstGeom prst="rect">
            <a:avLst/>
          </a:prstGeom>
          <a:solidFill>
            <a:srgbClr val="E4EAF4"/>
          </a:solidFill>
          <a:ln w="12700">
            <a:solidFill>
              <a:srgbClr val="E4EAF4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961888" y="2651760"/>
            <a:ext cx="2743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F71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Databricks helps</a:t>
            </a:r>
            <a:endParaRPr lang="en-US" sz="850" dirty="0"/>
          </a:p>
        </p:txBody>
      </p:sp>
      <p:sp>
        <p:nvSpPr>
          <p:cNvPr id="27" name="Text 25"/>
          <p:cNvSpPr/>
          <p:nvPr/>
        </p:nvSpPr>
        <p:spPr>
          <a:xfrm>
            <a:off x="5961888" y="2871216"/>
            <a:ext cx="274320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Delta Lake unifies records from all systems with full audit trail → ML models flag at-risk patients → researchers run cohort studies on years of data in minutes.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274320" y="3675888"/>
            <a:ext cx="256032" cy="1005840"/>
          </a:xfrm>
          <a:prstGeom prst="rect">
            <a:avLst/>
          </a:prstGeom>
          <a:solidFill>
            <a:srgbClr val="6A0DAD"/>
          </a:solidFill>
          <a:ln w="12700">
            <a:solidFill>
              <a:srgbClr val="6A0DAD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530352" y="3675888"/>
            <a:ext cx="8339328" cy="1005840"/>
          </a:xfrm>
          <a:prstGeom prst="rect">
            <a:avLst/>
          </a:prstGeom>
          <a:solidFill>
            <a:srgbClr val="F4F7FC"/>
          </a:solidFill>
          <a:ln w="12700">
            <a:solidFill>
              <a:srgbClr val="E4EAF4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30" name="Text 28"/>
          <p:cNvSpPr/>
          <p:nvPr/>
        </p:nvSpPr>
        <p:spPr>
          <a:xfrm>
            <a:off x="658368" y="3767328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6A0D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💳  Financial Services</a:t>
            </a:r>
            <a:endParaRPr lang="en-US" sz="1150" dirty="0"/>
          </a:p>
        </p:txBody>
      </p:sp>
      <p:sp>
        <p:nvSpPr>
          <p:cNvPr id="31" name="Text 29"/>
          <p:cNvSpPr/>
          <p:nvPr/>
        </p:nvSpPr>
        <p:spPr>
          <a:xfrm>
            <a:off x="658368" y="4059936"/>
            <a:ext cx="2286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Citi, ABN AMRO, HSBC</a:t>
            </a:r>
            <a:endParaRPr lang="en-US" sz="850" dirty="0"/>
          </a:p>
        </p:txBody>
      </p:sp>
      <p:sp>
        <p:nvSpPr>
          <p:cNvPr id="32" name="Text 30"/>
          <p:cNvSpPr/>
          <p:nvPr/>
        </p:nvSpPr>
        <p:spPr>
          <a:xfrm>
            <a:off x="658368" y="4334256"/>
            <a:ext cx="23774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A0D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📈  Result: Millions saved in fraud prevention annually</a:t>
            </a:r>
            <a:endParaRPr lang="en-US" sz="850" dirty="0"/>
          </a:p>
        </p:txBody>
      </p:sp>
      <p:sp>
        <p:nvSpPr>
          <p:cNvPr id="33" name="Shape 31"/>
          <p:cNvSpPr/>
          <p:nvPr/>
        </p:nvSpPr>
        <p:spPr>
          <a:xfrm>
            <a:off x="3108960" y="3767328"/>
            <a:ext cx="18288" cy="822960"/>
          </a:xfrm>
          <a:prstGeom prst="rect">
            <a:avLst/>
          </a:prstGeom>
          <a:solidFill>
            <a:srgbClr val="E4EAF4"/>
          </a:solidFill>
          <a:ln w="12700">
            <a:solidFill>
              <a:srgbClr val="E4EAF4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3246120" y="3767328"/>
            <a:ext cx="24688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0BC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</a:t>
            </a:r>
            <a:endParaRPr lang="en-US" sz="850" dirty="0"/>
          </a:p>
        </p:txBody>
      </p:sp>
      <p:sp>
        <p:nvSpPr>
          <p:cNvPr id="35" name="Text 33"/>
          <p:cNvSpPr/>
          <p:nvPr/>
        </p:nvSpPr>
        <p:spPr>
          <a:xfrm>
            <a:off x="3246120" y="3986784"/>
            <a:ext cx="246888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Fraud happens in milliseconds. Legacy systems detect it hours later — too late to stop the transaction.</a:t>
            </a:r>
            <a:endParaRPr lang="en-US" sz="900" dirty="0"/>
          </a:p>
        </p:txBody>
      </p:sp>
      <p:sp>
        <p:nvSpPr>
          <p:cNvPr id="36" name="Shape 34"/>
          <p:cNvSpPr/>
          <p:nvPr/>
        </p:nvSpPr>
        <p:spPr>
          <a:xfrm>
            <a:off x="5833872" y="3767328"/>
            <a:ext cx="18288" cy="822960"/>
          </a:xfrm>
          <a:prstGeom prst="rect">
            <a:avLst/>
          </a:prstGeom>
          <a:solidFill>
            <a:srgbClr val="E4EAF4"/>
          </a:solidFill>
          <a:ln w="12700">
            <a:solidFill>
              <a:srgbClr val="E4EAF4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5961888" y="3767328"/>
            <a:ext cx="2743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6A0D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Databricks helps</a:t>
            </a:r>
            <a:endParaRPr lang="en-US" sz="850" dirty="0"/>
          </a:p>
        </p:txBody>
      </p:sp>
      <p:sp>
        <p:nvSpPr>
          <p:cNvPr id="38" name="Text 36"/>
          <p:cNvSpPr/>
          <p:nvPr/>
        </p:nvSpPr>
        <p:spPr>
          <a:xfrm>
            <a:off x="5961888" y="3986784"/>
            <a:ext cx="274320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Spark Streaming processes every card transaction in real time → ML model scores fraud risk in &lt;100ms → suspicious transactions are blocked before they complete.</a:t>
            </a:r>
            <a:endParaRPr lang="en-US" sz="900" dirty="0"/>
          </a:p>
        </p:txBody>
      </p:sp>
      <p:sp>
        <p:nvSpPr>
          <p:cNvPr id="39" name="Text 37"/>
          <p:cNvSpPr/>
          <p:nvPr/>
        </p:nvSpPr>
        <p:spPr>
          <a:xfrm>
            <a:off x="411480" y="4645152"/>
            <a:ext cx="8321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2D3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 Session 1 wrap-up: You now know what Databricks is, how it works, and why it matters. Next session — we write our first Spark job.</a:t>
            </a:r>
            <a:endParaRPr lang="en-US" sz="950" dirty="0"/>
          </a:p>
        </p:txBody>
      </p:sp>
      <p:pic>
        <p:nvPicPr>
          <p:cNvPr id="40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406640" y="4681728"/>
            <a:ext cx="1508760" cy="411480"/>
          </a:xfrm>
          <a:prstGeom prst="rect">
            <a:avLst/>
          </a:prstGeom>
        </p:spPr>
      </p:pic>
      <p:sp>
        <p:nvSpPr>
          <p:cNvPr id="41" name="Text 38"/>
          <p:cNvSpPr/>
          <p:nvPr/>
        </p:nvSpPr>
        <p:spPr>
          <a:xfrm>
            <a:off x="8686800" y="4846320"/>
            <a:ext cx="320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B0C4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8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What is Databricks?</dc:title>
  <dc:subject>PptxGenJS Presentation</dc:subject>
  <dc:creator>PptxGenJS</dc:creator>
  <cp:lastModifiedBy>PptxGenJS</cp:lastModifiedBy>
  <cp:revision>1</cp:revision>
  <dcterms:created xsi:type="dcterms:W3CDTF">2026-06-08T02:55:16Z</dcterms:created>
  <dcterms:modified xsi:type="dcterms:W3CDTF">2026-06-08T02:55:16Z</dcterms:modified>
</cp:coreProperties>
</file>